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4942717-aa1a-42d1-4f5c-02c0eb095a2d}">
          <p14:sldIdLst>
            <p14:sldId id="256"/>
          </p14:sldIdLst>
        </p14:section>
        <p14:section name="Tasks" id="{3368c956-92a9-656a-ce00-c2edea02e70b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Wrap-up" id="{5f121849-55f5-00dd-e171-6d0aed686f51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21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2128"/>
                </a:solidFill>
                <a:latin typeface="+mn-lt"/>
              </a:rPr>
              <a:t>Held-out test metrics (axis starts at 0.5)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5B1A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1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KNN</c:v>
                  </c:pt>
                  <c:pt idx="1">
                    <c:v>Random Forest</c:v>
                  </c:pt>
                  <c:pt idx="2">
                    <c:v>SVM</c:v>
                  </c:pt>
                  <c:pt idx="3">
                    <c:v>Logistic Reg.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0.8156</c:v>
                </c:pt>
                <c:pt idx="1">
                  <c:v>0.8031</c:v>
                </c:pt>
                <c:pt idx="2">
                  <c:v>0.7688</c:v>
                </c:pt>
                <c:pt idx="3">
                  <c:v>0.7406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A8405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1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KNN</c:v>
                  </c:pt>
                  <c:pt idx="1">
                    <c:v>Random Forest</c:v>
                  </c:pt>
                  <c:pt idx="2">
                    <c:v>SVM</c:v>
                  </c:pt>
                  <c:pt idx="3">
                    <c:v>Logistic Reg.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0.829</c:v>
                </c:pt>
                <c:pt idx="1">
                  <c:v>0.8163</c:v>
                </c:pt>
                <c:pt idx="2">
                  <c:v>0.7716</c:v>
                </c:pt>
                <c:pt idx="3">
                  <c:v>0.7522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D4A24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1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KNN</c:v>
                  </c:pt>
                  <c:pt idx="1">
                    <c:v>Random Forest</c:v>
                  </c:pt>
                  <c:pt idx="2">
                    <c:v>SVM</c:v>
                  </c:pt>
                  <c:pt idx="3">
                    <c:v>Logistic Reg.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0.8913</c:v>
                </c:pt>
                <c:pt idx="1">
                  <c:v>0.8893</c:v>
                </c:pt>
                <c:pt idx="2">
                  <c:v>0.8408</c:v>
                </c:pt>
                <c:pt idx="3">
                  <c:v>0.8242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A21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1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6DAD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5A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A21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This is our end-to-end MLOps pipeline for red wine quality classification: ingestion, preprocessing, versioning with DVC, experiment tracking with MLflow, Kubeflow automation, and Feast for features. Dataset: UCI/OpenML red wine quality, 1,599 samples, binary target: quality 6 or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1. Six stages: ingestion from OpenML, preprocessing with outlier capping, three engineered ratios and scaling, training of four models, evaluation with a 0.75 accuracy gate, deployment as a FastAPI endpoint, and monitoring for drift. Drift alerts loop back to ingestion.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2. Four algorithms, each tracked in MLflow with parameters, train and test accuracy, precision, recall, F1 and ROC-AUC, plus confusion matrix and ROC plots. KNN is best at 81.6% test accuracy and F1 0.829; Random Forest is close at 80.3%. KNN has 100% training accuracy against 81.6% test, so it overfits; Random Forest also (97.9% train). Table values: SVM 76.9%, Logistic Regression 74.1%.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3. DVC was initialised and the dataset added. v1.0 (Git tag v1.0) is the raw data. v2.0 adds winsorisation at 1 and 99 percent, three engineered ratios (bound sulfur dioxide, acidity ratio, sulphate to chloride) and StandardScaler. The hash changed, so DVC knows they differ. Benefits: reproducibility, small Git history, lineage. Demo: python src/compare_dvc_versions.py and git tag -n.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4. The pipeline is written with Kubeflow Pipelines v2 and compiled to artifacts/kubeflow_pipeline.yaml; run_pipeline.py simulates the run locally. Five stages: collection, validation, training, evaluation, deployment. If test accuracy is under 0.75 the deployment step is blocked. Automation improves reproducibility through containers and lineage tracking, and scalability through Kubernetes. Demo: python kubeflow_pipeline.py then python run_pipeline.py.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5A. Three features: alcohol, volatile acidity, sulphates. Feast keeps one declarative definition in features.py. The offline store (Parquet) gives point-in-time correct historical features for training, so there is no leakage. The online store (SQLite here; Redis or DynamoDB in production) serves the same features in milliseconds during inference. That removes training-serving skew. Demo: python feature_store/feast_demo.py.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5B. Compared AWS SageMaker and Google Vertex AI on services, experiment tracking, AutoML, deployment options and cost. Recommendation: Vertex AI, because the Kubeflow pipeline compiled in Task 4 can be submitted to Vertex AI Pipelines directly, and its Feature Store matches the Feast design. Real-time endpoints bill continuously on both platforms unless you use serverless, so delete test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close: every stage of the lifecycle is covered, from DVC-versioned data and MLflow-tracked experiments to a Kubeflow-style automated pipeline, a Feast feature store and a cloud deployment plan. All code and results are in the GitHub repo.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End-to-End MLOps Pipeline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783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Red Wine Quality Classification</a:t>
            </a:r>
            <a:endParaRPr lang="en-US" sz="2400" dirty="0"/>
          </a:p>
        </p:txBody>
      </p:sp>
      <p:sp>
        <p:nvSpPr>
          <p:cNvPr id="4" name="Author"/>
          <p:cNvSpPr txBox="1"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CIA1 MLOps Experiential Assignment  |  Kusum Gajare</a:t>
            </a:r>
            <a:endParaRPr lang="en-US" sz="1600" dirty="0"/>
          </a:p>
        </p:txBody>
      </p:sp>
      <p:sp>
        <p:nvSpPr>
          <p:cNvPr id="5" name="Stat 1"/>
          <p:cNvSpPr txBox="1"/>
          <p:nvPr/>
        </p:nvSpPr>
        <p:spPr>
          <a:xfrm>
            <a:off x="548640" y="3246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4</a:t>
            </a:r>
            <a:endParaRPr lang="en-US" sz="6000" dirty="0"/>
          </a:p>
        </p:txBody>
      </p:sp>
      <p:sp>
        <p:nvSpPr>
          <p:cNvPr id="6" name="Stat label 1"/>
          <p:cNvSpPr txBox="1"/>
          <p:nvPr/>
        </p:nvSpPr>
        <p:spPr>
          <a:xfrm>
            <a:off x="54864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models tracked in MLflow</a:t>
            </a:r>
            <a:endParaRPr lang="en-US" sz="1400" dirty="0"/>
          </a:p>
        </p:txBody>
      </p:sp>
      <p:sp>
        <p:nvSpPr>
          <p:cNvPr id="7" name="Stat 2"/>
          <p:cNvSpPr txBox="1"/>
          <p:nvPr/>
        </p:nvSpPr>
        <p:spPr>
          <a:xfrm>
            <a:off x="3291840" y="3246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2</a:t>
            </a:r>
            <a:endParaRPr lang="en-US" sz="6000" dirty="0"/>
          </a:p>
        </p:txBody>
      </p:sp>
      <p:sp>
        <p:nvSpPr>
          <p:cNvPr id="8" name="Stat label 2"/>
          <p:cNvSpPr txBox="1"/>
          <p:nvPr/>
        </p:nvSpPr>
        <p:spPr>
          <a:xfrm>
            <a:off x="329184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dataset versions in DVC</a:t>
            </a:r>
            <a:endParaRPr lang="en-US" sz="1400" dirty="0"/>
          </a:p>
        </p:txBody>
      </p:sp>
      <p:sp>
        <p:nvSpPr>
          <p:cNvPr id="9" name="Stat 3"/>
          <p:cNvSpPr txBox="1"/>
          <p:nvPr/>
        </p:nvSpPr>
        <p:spPr>
          <a:xfrm>
            <a:off x="6035040" y="3246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5</a:t>
            </a:r>
            <a:endParaRPr lang="en-US" sz="6000" dirty="0"/>
          </a:p>
        </p:txBody>
      </p:sp>
      <p:sp>
        <p:nvSpPr>
          <p:cNvPr id="10" name="Stat label 3"/>
          <p:cNvSpPr txBox="1"/>
          <p:nvPr/>
        </p:nvSpPr>
        <p:spPr>
          <a:xfrm>
            <a:off x="603504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automated pipeline stages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Six stages, one feedback loop</a:t>
            </a:r>
            <a:endParaRPr lang="en-US" sz="3600" dirty="0"/>
          </a:p>
        </p:txBody>
      </p:sp>
      <p:sp>
        <p:nvSpPr>
          <p:cNvPr id="3" name="Stage card 1"/>
          <p:cNvSpPr/>
          <p:nvPr/>
        </p:nvSpPr>
        <p:spPr>
          <a:xfrm>
            <a:off x="45720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Stage number 1"/>
          <p:cNvSpPr txBox="1"/>
          <p:nvPr/>
        </p:nvSpPr>
        <p:spPr>
          <a:xfrm>
            <a:off x="640080" y="134416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age name 1"/>
          <p:cNvSpPr txBox="1"/>
          <p:nvPr/>
        </p:nvSpPr>
        <p:spPr>
          <a:xfrm>
            <a:off x="1143000" y="1344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ingestion</a:t>
            </a:r>
            <a:endParaRPr lang="en-US" sz="1600" dirty="0"/>
          </a:p>
        </p:txBody>
      </p:sp>
      <p:sp>
        <p:nvSpPr>
          <p:cNvPr id="6" name="Stage detail 1"/>
          <p:cNvSpPr txBox="1"/>
          <p:nvPr/>
        </p:nvSpPr>
        <p:spPr>
          <a:xfrm>
            <a:off x="64008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OpenML wine data: 1,599 rows, 12 features</a:t>
            </a:r>
            <a:endParaRPr lang="en-US" sz="1400" dirty="0"/>
          </a:p>
        </p:txBody>
      </p:sp>
      <p:sp>
        <p:nvSpPr>
          <p:cNvPr id="7" name="Flow arrow 1"/>
          <p:cNvSpPr/>
          <p:nvPr/>
        </p:nvSpPr>
        <p:spPr>
          <a:xfrm>
            <a:off x="3090672" y="1755648"/>
            <a:ext cx="173736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tage card 2"/>
          <p:cNvSpPr/>
          <p:nvPr/>
        </p:nvSpPr>
        <p:spPr>
          <a:xfrm>
            <a:off x="326898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Stage number 2"/>
          <p:cNvSpPr txBox="1"/>
          <p:nvPr/>
        </p:nvSpPr>
        <p:spPr>
          <a:xfrm>
            <a:off x="3451860" y="134416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tage name 2"/>
          <p:cNvSpPr txBox="1"/>
          <p:nvPr/>
        </p:nvSpPr>
        <p:spPr>
          <a:xfrm>
            <a:off x="3954780" y="1344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Preprocessing</a:t>
            </a:r>
            <a:endParaRPr lang="en-US" sz="1600" dirty="0"/>
          </a:p>
        </p:txBody>
      </p:sp>
      <p:sp>
        <p:nvSpPr>
          <p:cNvPr id="11" name="Stage detail 2"/>
          <p:cNvSpPr txBox="1"/>
          <p:nvPr/>
        </p:nvSpPr>
        <p:spPr>
          <a:xfrm>
            <a:off x="345186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 outliers, add 3 ratios, scale features</a:t>
            </a:r>
            <a:endParaRPr lang="en-US" sz="1400" dirty="0"/>
          </a:p>
        </p:txBody>
      </p:sp>
      <p:sp>
        <p:nvSpPr>
          <p:cNvPr id="12" name="Flow arrow 2"/>
          <p:cNvSpPr/>
          <p:nvPr/>
        </p:nvSpPr>
        <p:spPr>
          <a:xfrm>
            <a:off x="5902452" y="1755648"/>
            <a:ext cx="173736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Stage card 3"/>
          <p:cNvSpPr/>
          <p:nvPr/>
        </p:nvSpPr>
        <p:spPr>
          <a:xfrm>
            <a:off x="608076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Stage number 3"/>
          <p:cNvSpPr txBox="1"/>
          <p:nvPr/>
        </p:nvSpPr>
        <p:spPr>
          <a:xfrm>
            <a:off x="6263640" y="134416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tage name 3"/>
          <p:cNvSpPr txBox="1"/>
          <p:nvPr/>
        </p:nvSpPr>
        <p:spPr>
          <a:xfrm>
            <a:off x="6766560" y="1344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 training</a:t>
            </a:r>
            <a:endParaRPr lang="en-US" sz="1600" dirty="0"/>
          </a:p>
        </p:txBody>
      </p:sp>
      <p:sp>
        <p:nvSpPr>
          <p:cNvPr id="16" name="Stage detail 3"/>
          <p:cNvSpPr txBox="1"/>
          <p:nvPr/>
        </p:nvSpPr>
        <p:spPr>
          <a:xfrm>
            <a:off x="626364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KNN, SVM, Random Forest, LogReg in MLflow</a:t>
            </a:r>
            <a:endParaRPr lang="en-US" sz="1400" dirty="0"/>
          </a:p>
        </p:txBody>
      </p:sp>
      <p:sp>
        <p:nvSpPr>
          <p:cNvPr id="17" name="Stage card 4"/>
          <p:cNvSpPr/>
          <p:nvPr/>
        </p:nvSpPr>
        <p:spPr>
          <a:xfrm>
            <a:off x="457200" y="26974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8" name="Stage number 4"/>
          <p:cNvSpPr txBox="1"/>
          <p:nvPr/>
        </p:nvSpPr>
        <p:spPr>
          <a:xfrm>
            <a:off x="640080" y="285292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tage name 4"/>
          <p:cNvSpPr txBox="1"/>
          <p:nvPr/>
        </p:nvSpPr>
        <p:spPr>
          <a:xfrm>
            <a:off x="114300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 evaluation</a:t>
            </a:r>
            <a:endParaRPr lang="en-US" sz="1600" dirty="0"/>
          </a:p>
        </p:txBody>
      </p:sp>
      <p:sp>
        <p:nvSpPr>
          <p:cNvPr id="20" name="Stage detail 4"/>
          <p:cNvSpPr txBox="1"/>
          <p:nvPr/>
        </p:nvSpPr>
        <p:spPr>
          <a:xfrm>
            <a:off x="64008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Accuracy, F1, ROC-AUC; gate at 0.75</a:t>
            </a:r>
            <a:endParaRPr lang="en-US" sz="1400" dirty="0"/>
          </a:p>
        </p:txBody>
      </p:sp>
      <p:sp>
        <p:nvSpPr>
          <p:cNvPr id="21" name="Flow arrow 4"/>
          <p:cNvSpPr/>
          <p:nvPr/>
        </p:nvSpPr>
        <p:spPr>
          <a:xfrm>
            <a:off x="3090672" y="3264408"/>
            <a:ext cx="173736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2" name="Stage card 5"/>
          <p:cNvSpPr/>
          <p:nvPr/>
        </p:nvSpPr>
        <p:spPr>
          <a:xfrm>
            <a:off x="3268980" y="26974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3" name="Stage number 5"/>
          <p:cNvSpPr txBox="1"/>
          <p:nvPr/>
        </p:nvSpPr>
        <p:spPr>
          <a:xfrm>
            <a:off x="3451860" y="285292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Stage name 5"/>
          <p:cNvSpPr txBox="1"/>
          <p:nvPr/>
        </p:nvSpPr>
        <p:spPr>
          <a:xfrm>
            <a:off x="395478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Deployment</a:t>
            </a:r>
            <a:endParaRPr lang="en-US" sz="1600" dirty="0"/>
          </a:p>
        </p:txBody>
      </p:sp>
      <p:sp>
        <p:nvSpPr>
          <p:cNvPr id="25" name="Stage detail 5"/>
          <p:cNvSpPr txBox="1"/>
          <p:nvPr/>
        </p:nvSpPr>
        <p:spPr>
          <a:xfrm>
            <a:off x="345186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FastAPI /predict endpoint, Vertex AI ready</a:t>
            </a:r>
            <a:endParaRPr lang="en-US" sz="1400" dirty="0"/>
          </a:p>
        </p:txBody>
      </p:sp>
      <p:sp>
        <p:nvSpPr>
          <p:cNvPr id="26" name="Flow arrow 5"/>
          <p:cNvSpPr/>
          <p:nvPr/>
        </p:nvSpPr>
        <p:spPr>
          <a:xfrm>
            <a:off x="5902452" y="3264408"/>
            <a:ext cx="173736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7" name="Stage card 6"/>
          <p:cNvSpPr/>
          <p:nvPr/>
        </p:nvSpPr>
        <p:spPr>
          <a:xfrm>
            <a:off x="6080760" y="26974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8" name="Stage number 6"/>
          <p:cNvSpPr txBox="1"/>
          <p:nvPr/>
        </p:nvSpPr>
        <p:spPr>
          <a:xfrm>
            <a:off x="6263640" y="285292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9" name="Stage name 6"/>
          <p:cNvSpPr txBox="1"/>
          <p:nvPr/>
        </p:nvSpPr>
        <p:spPr>
          <a:xfrm>
            <a:off x="676656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Monitoring</a:t>
            </a:r>
            <a:endParaRPr lang="en-US" sz="1600" dirty="0"/>
          </a:p>
        </p:txBody>
      </p:sp>
      <p:sp>
        <p:nvSpPr>
          <p:cNvPr id="30" name="Stage detail 6"/>
          <p:cNvSpPr txBox="1"/>
          <p:nvPr/>
        </p:nvSpPr>
        <p:spPr>
          <a:xfrm>
            <a:off x="626364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KS-test drift checks on live inputs</a:t>
            </a:r>
            <a:endParaRPr lang="en-US" sz="1400" dirty="0"/>
          </a:p>
        </p:txBody>
      </p:sp>
      <p:sp>
        <p:nvSpPr>
          <p:cNvPr id="31" name="Loop banner"/>
          <p:cNvSpPr txBox="1"/>
          <p:nvPr/>
        </p:nvSpPr>
        <p:spPr>
          <a:xfrm>
            <a:off x="457200" y="4224528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17780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 drift alert sends the pipeline back to ingestion for retraining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KNN leads at 81.6% accuracy</a:t>
            </a:r>
            <a:endParaRPr lang="en-US" sz="3600" dirty="0"/>
          </a:p>
        </p:txBody>
      </p:sp>
      <p:graphicFrame>
        <p:nvGraphicFramePr>
          <p:cNvPr id="3" name="Model comparison chart" descr=""/>
          <p:cNvGraphicFramePr/>
          <p:nvPr/>
        </p:nvGraphicFramePr>
        <p:xfrm>
          <a:off x="457200" y="114300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card 1"/>
          <p:cNvSpPr/>
          <p:nvPr/>
        </p:nvSpPr>
        <p:spPr>
          <a:xfrm>
            <a:off x="6126480" y="118872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Insight number 1"/>
          <p:cNvSpPr txBox="1"/>
          <p:nvPr/>
        </p:nvSpPr>
        <p:spPr>
          <a:xfrm>
            <a:off x="626364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81.6%</a:t>
            </a:r>
            <a:endParaRPr lang="en-US" sz="2400" dirty="0"/>
          </a:p>
        </p:txBody>
      </p:sp>
      <p:sp>
        <p:nvSpPr>
          <p:cNvPr id="6" name="Insight label 1"/>
          <p:cNvSpPr txBox="1"/>
          <p:nvPr/>
        </p:nvSpPr>
        <p:spPr>
          <a:xfrm>
            <a:off x="626364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KNN test accuracy, best of 4 models</a:t>
            </a:r>
            <a:endParaRPr lang="en-US" sz="1400" dirty="0"/>
          </a:p>
        </p:txBody>
      </p:sp>
      <p:sp>
        <p:nvSpPr>
          <p:cNvPr id="7" name="Insight card 2"/>
          <p:cNvSpPr/>
          <p:nvPr/>
        </p:nvSpPr>
        <p:spPr>
          <a:xfrm>
            <a:off x="6126480" y="233172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Insight number 2"/>
          <p:cNvSpPr txBox="1"/>
          <p:nvPr/>
        </p:nvSpPr>
        <p:spPr>
          <a:xfrm>
            <a:off x="6263640" y="2404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0.829</a:t>
            </a:r>
            <a:endParaRPr lang="en-US" sz="2400" dirty="0"/>
          </a:p>
        </p:txBody>
      </p:sp>
      <p:sp>
        <p:nvSpPr>
          <p:cNvPr id="9" name="Insight label 2"/>
          <p:cNvSpPr txBox="1"/>
          <p:nvPr/>
        </p:nvSpPr>
        <p:spPr>
          <a:xfrm>
            <a:off x="62636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KNN F1-score, ROC-AUC 0.891</a:t>
            </a:r>
            <a:endParaRPr lang="en-US" sz="1400" dirty="0"/>
          </a:p>
        </p:txBody>
      </p:sp>
      <p:sp>
        <p:nvSpPr>
          <p:cNvPr id="10" name="Insight card 3"/>
          <p:cNvSpPr/>
          <p:nvPr/>
        </p:nvSpPr>
        <p:spPr>
          <a:xfrm>
            <a:off x="6126480" y="347472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1" name="Insight number 3"/>
          <p:cNvSpPr txBox="1"/>
          <p:nvPr/>
        </p:nvSpPr>
        <p:spPr>
          <a:xfrm>
            <a:off x="6263640" y="3547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100% to 81.6%</a:t>
            </a:r>
            <a:endParaRPr lang="en-US" sz="2400" dirty="0"/>
          </a:p>
        </p:txBody>
      </p:sp>
      <p:sp>
        <p:nvSpPr>
          <p:cNvPr id="12" name="Insight label 3"/>
          <p:cNvSpPr txBox="1"/>
          <p:nvPr/>
        </p:nvSpPr>
        <p:spPr>
          <a:xfrm>
            <a:off x="626364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KNN train vs test: overfitting to watch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versions tracked by hash</a:t>
            </a:r>
            <a:endParaRPr lang="en-US" sz="3600" dirty="0"/>
          </a:p>
        </p:txBody>
      </p:sp>
      <p:sp>
        <p:nvSpPr>
          <p:cNvPr id="3" name="Version card 1"/>
          <p:cNvSpPr/>
          <p:nvPr/>
        </p:nvSpPr>
        <p:spPr>
          <a:xfrm>
            <a:off x="457200" y="1188720"/>
            <a:ext cx="3749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4" name="Version tag 1"/>
          <p:cNvSpPr txBox="1"/>
          <p:nvPr/>
        </p:nvSpPr>
        <p:spPr>
          <a:xfrm>
            <a:off x="640080" y="1353312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v1.0</a:t>
            </a:r>
            <a:endParaRPr lang="en-US" sz="1600" dirty="0"/>
          </a:p>
        </p:txBody>
      </p:sp>
      <p:sp>
        <p:nvSpPr>
          <p:cNvPr id="5" name="Version label 1"/>
          <p:cNvSpPr txBox="1"/>
          <p:nvPr/>
        </p:nvSpPr>
        <p:spPr>
          <a:xfrm>
            <a:off x="164592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Original raw data</a:t>
            </a:r>
            <a:endParaRPr lang="en-US" sz="1600" dirty="0"/>
          </a:p>
        </p:txBody>
      </p:sp>
      <p:sp>
        <p:nvSpPr>
          <p:cNvPr id="6" name="Version details 1"/>
          <p:cNvSpPr txBox="1"/>
          <p:nvPr/>
        </p:nvSpPr>
        <p:spPr>
          <a:xfrm>
            <a:off x="640080" y="187452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13 columns, 12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121,955 bytes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Unscaled, outliers kept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MD5 24d9881f...</a:t>
            </a:r>
            <a:endParaRPr lang="en-US" sz="1400" dirty="0"/>
          </a:p>
        </p:txBody>
      </p:sp>
      <p:sp>
        <p:nvSpPr>
          <p:cNvPr id="7" name="Version card 2"/>
          <p:cNvSpPr/>
          <p:nvPr/>
        </p:nvSpPr>
        <p:spPr>
          <a:xfrm>
            <a:off x="4937760" y="1188720"/>
            <a:ext cx="3749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8" name="Version tag 2"/>
          <p:cNvSpPr txBox="1"/>
          <p:nvPr/>
        </p:nvSpPr>
        <p:spPr>
          <a:xfrm>
            <a:off x="5120640" y="1353312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v2.0</a:t>
            </a:r>
            <a:endParaRPr lang="en-US" sz="1600" dirty="0"/>
          </a:p>
        </p:txBody>
      </p:sp>
      <p:sp>
        <p:nvSpPr>
          <p:cNvPr id="9" name="Version label 2"/>
          <p:cNvSpPr txBox="1"/>
          <p:nvPr/>
        </p:nvSpPr>
        <p:spPr>
          <a:xfrm>
            <a:off x="612648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Preprocessed data</a:t>
            </a:r>
            <a:endParaRPr lang="en-US" sz="1600" dirty="0"/>
          </a:p>
        </p:txBody>
      </p:sp>
      <p:sp>
        <p:nvSpPr>
          <p:cNvPr id="10" name="Version details 2"/>
          <p:cNvSpPr txBox="1"/>
          <p:nvPr/>
        </p:nvSpPr>
        <p:spPr>
          <a:xfrm>
            <a:off x="5120640" y="187452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15 columns, 14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447,052 bytes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Scaled, capped, +3 ratios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MD5 7b27e55a...</a:t>
            </a:r>
            <a:endParaRPr lang="en-US" sz="1400" dirty="0"/>
          </a:p>
        </p:txBody>
      </p:sp>
      <p:sp>
        <p:nvSpPr>
          <p:cNvPr id="11" name="Version arrow"/>
          <p:cNvSpPr/>
          <p:nvPr/>
        </p:nvSpPr>
        <p:spPr>
          <a:xfrm>
            <a:off x="4261104" y="2148840"/>
            <a:ext cx="621792" cy="41148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Benefit card 1"/>
          <p:cNvSpPr/>
          <p:nvPr/>
        </p:nvSpPr>
        <p:spPr>
          <a:xfrm>
            <a:off x="457200" y="3611880"/>
            <a:ext cx="258775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Benefit title 1"/>
          <p:cNvSpPr txBox="1"/>
          <p:nvPr/>
        </p:nvSpPr>
        <p:spPr>
          <a:xfrm>
            <a:off x="594360" y="36758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Reproducible</a:t>
            </a:r>
            <a:endParaRPr lang="en-US" sz="1400" dirty="0"/>
          </a:p>
        </p:txBody>
      </p:sp>
      <p:sp>
        <p:nvSpPr>
          <p:cNvPr id="14" name="Benefit text 1"/>
          <p:cNvSpPr txBox="1"/>
          <p:nvPr/>
        </p:nvSpPr>
        <p:spPr>
          <a:xfrm>
            <a:off x="594360" y="39593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 checkout v1.0, then dvc checkout, restores the data</a:t>
            </a:r>
            <a:endParaRPr lang="en-US" sz="1400" dirty="0"/>
          </a:p>
        </p:txBody>
      </p:sp>
      <p:sp>
        <p:nvSpPr>
          <p:cNvPr id="15" name="Benefit card 2"/>
          <p:cNvSpPr/>
          <p:nvPr/>
        </p:nvSpPr>
        <p:spPr>
          <a:xfrm>
            <a:off x="3278124" y="3611880"/>
            <a:ext cx="258775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6" name="Benefit title 2"/>
          <p:cNvSpPr txBox="1"/>
          <p:nvPr/>
        </p:nvSpPr>
        <p:spPr>
          <a:xfrm>
            <a:off x="3415284" y="36758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Lightweight Git</a:t>
            </a:r>
            <a:endParaRPr lang="en-US" sz="1400" dirty="0"/>
          </a:p>
        </p:txBody>
      </p:sp>
      <p:sp>
        <p:nvSpPr>
          <p:cNvPr id="17" name="Benefit text 2"/>
          <p:cNvSpPr txBox="1"/>
          <p:nvPr/>
        </p:nvSpPr>
        <p:spPr>
          <a:xfrm>
            <a:off x="3415284" y="39593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a ~100-byte .dvc pointer file is committed</a:t>
            </a:r>
            <a:endParaRPr lang="en-US" sz="1400" dirty="0"/>
          </a:p>
        </p:txBody>
      </p:sp>
      <p:sp>
        <p:nvSpPr>
          <p:cNvPr id="18" name="Benefit card 3"/>
          <p:cNvSpPr/>
          <p:nvPr/>
        </p:nvSpPr>
        <p:spPr>
          <a:xfrm>
            <a:off x="6099048" y="3611880"/>
            <a:ext cx="258775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Benefit title 3"/>
          <p:cNvSpPr txBox="1"/>
          <p:nvPr/>
        </p:nvSpPr>
        <p:spPr>
          <a:xfrm>
            <a:off x="6236208" y="36758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Traceable lineage</a:t>
            </a:r>
            <a:endParaRPr lang="en-US" sz="1400" dirty="0"/>
          </a:p>
        </p:txBody>
      </p:sp>
      <p:sp>
        <p:nvSpPr>
          <p:cNvPr id="20" name="Benefit text 3"/>
          <p:cNvSpPr txBox="1"/>
          <p:nvPr/>
        </p:nvSpPr>
        <p:spPr>
          <a:xfrm>
            <a:off x="6236208" y="39593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version links back to the code that made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Five stages, one quality gate</a:t>
            </a:r>
            <a:endParaRPr lang="en-US" sz="3600" dirty="0"/>
          </a:p>
        </p:txBody>
      </p:sp>
      <p:sp>
        <p:nvSpPr>
          <p:cNvPr id="3" name="Pipeline stage 1"/>
          <p:cNvSpPr txBox="1"/>
          <p:nvPr/>
        </p:nvSpPr>
        <p:spPr>
          <a:xfrm>
            <a:off x="457200" y="1188720"/>
            <a:ext cx="1463040" cy="17373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  <p:txBody>
          <a:bodyPr wrap="square" lIns="114300" tIns="101600" rIns="1016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Data Collection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Pull and hash the dataset</a:t>
            </a:r>
            <a:endParaRPr lang="en-US" sz="1600" dirty="0"/>
          </a:p>
        </p:txBody>
      </p:sp>
      <p:sp>
        <p:nvSpPr>
          <p:cNvPr id="4" name="Pipeline arrow 1"/>
          <p:cNvSpPr/>
          <p:nvPr/>
        </p:nvSpPr>
        <p:spPr>
          <a:xfrm>
            <a:off x="1947672" y="1920240"/>
            <a:ext cx="173736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5" name="Pipeline stage 2"/>
          <p:cNvSpPr txBox="1"/>
          <p:nvPr/>
        </p:nvSpPr>
        <p:spPr>
          <a:xfrm>
            <a:off x="2148840" y="1188720"/>
            <a:ext cx="1463040" cy="17373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  <p:txBody>
          <a:bodyPr wrap="square" lIns="114300" tIns="101600" rIns="1016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Data Validation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Schema, nulls, 1,000+ rows</a:t>
            </a:r>
            <a:endParaRPr lang="en-US" sz="1600" dirty="0"/>
          </a:p>
        </p:txBody>
      </p:sp>
      <p:sp>
        <p:nvSpPr>
          <p:cNvPr id="6" name="Pipeline arrow 2"/>
          <p:cNvSpPr/>
          <p:nvPr/>
        </p:nvSpPr>
        <p:spPr>
          <a:xfrm>
            <a:off x="3639312" y="1920240"/>
            <a:ext cx="173736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7" name="Pipeline stage 3"/>
          <p:cNvSpPr txBox="1"/>
          <p:nvPr/>
        </p:nvSpPr>
        <p:spPr>
          <a:xfrm>
            <a:off x="3840480" y="1188720"/>
            <a:ext cx="1463040" cy="17373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  <p:txBody>
          <a:bodyPr wrap="square" lIns="114300" tIns="101600" rIns="1016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Training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4 models, logged in MLflow</a:t>
            </a:r>
            <a:endParaRPr lang="en-US" sz="1600" dirty="0"/>
          </a:p>
        </p:txBody>
      </p:sp>
      <p:sp>
        <p:nvSpPr>
          <p:cNvPr id="8" name="Pipeline arrow 3"/>
          <p:cNvSpPr/>
          <p:nvPr/>
        </p:nvSpPr>
        <p:spPr>
          <a:xfrm>
            <a:off x="5330952" y="1920240"/>
            <a:ext cx="173736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Pipeline stage 4"/>
          <p:cNvSpPr txBox="1"/>
          <p:nvPr/>
        </p:nvSpPr>
        <p:spPr>
          <a:xfrm>
            <a:off x="5532120" y="1188720"/>
            <a:ext cx="1463040" cy="173736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  <p:txBody>
          <a:bodyPr wrap="square" lIns="114300" tIns="101600" rIns="1016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Evaluation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Gate: test accuracy 0.75 or more</a:t>
            </a:r>
            <a:endParaRPr lang="en-US" sz="1600" dirty="0"/>
          </a:p>
        </p:txBody>
      </p:sp>
      <p:sp>
        <p:nvSpPr>
          <p:cNvPr id="10" name="Pipeline arrow 4"/>
          <p:cNvSpPr/>
          <p:nvPr/>
        </p:nvSpPr>
        <p:spPr>
          <a:xfrm>
            <a:off x="7022592" y="1920240"/>
            <a:ext cx="173736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Pipeline stage 5"/>
          <p:cNvSpPr txBox="1"/>
          <p:nvPr/>
        </p:nvSpPr>
        <p:spPr>
          <a:xfrm>
            <a:off x="7223760" y="1188720"/>
            <a:ext cx="1463040" cy="17373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  <p:txBody>
          <a:bodyPr wrap="square" lIns="114300" tIns="101600" rIns="1016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Deployment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Serve the approved model</a:t>
            </a:r>
            <a:endParaRPr lang="en-US" sz="1600" dirty="0"/>
          </a:p>
        </p:txBody>
      </p:sp>
      <p:sp>
        <p:nvSpPr>
          <p:cNvPr id="12" name="Gate note"/>
          <p:cNvSpPr txBox="1"/>
          <p:nvPr/>
        </p:nvSpPr>
        <p:spPr>
          <a:xfrm>
            <a:off x="5532120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Below 0.75: deployment is blocked</a:t>
            </a:r>
            <a:endParaRPr lang="en-US" sz="1200" dirty="0"/>
          </a:p>
        </p:txBody>
      </p:sp>
      <p:sp>
        <p:nvSpPr>
          <p:cNvPr id="13" name="Automation card 1"/>
          <p:cNvSpPr/>
          <p:nvPr/>
        </p:nvSpPr>
        <p:spPr>
          <a:xfrm>
            <a:off x="457200" y="3520440"/>
            <a:ext cx="40005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4" name="Automation title 1"/>
          <p:cNvSpPr txBox="1"/>
          <p:nvPr/>
        </p:nvSpPr>
        <p:spPr>
          <a:xfrm>
            <a:off x="640080" y="3593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Reproducibility</a:t>
            </a:r>
            <a:endParaRPr lang="en-US" sz="1600" dirty="0"/>
          </a:p>
        </p:txBody>
      </p:sp>
      <p:sp>
        <p:nvSpPr>
          <p:cNvPr id="15" name="Automation text 1"/>
          <p:cNvSpPr txBox="1"/>
          <p:nvPr/>
        </p:nvSpPr>
        <p:spPr>
          <a:xfrm>
            <a:off x="640080" y="39044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step runs in a container with pinned dependencies, and ML Metadata records the lineage.</a:t>
            </a:r>
            <a:endParaRPr lang="en-US" sz="1400" dirty="0"/>
          </a:p>
        </p:txBody>
      </p:sp>
      <p:sp>
        <p:nvSpPr>
          <p:cNvPr id="16" name="Automation card 2"/>
          <p:cNvSpPr/>
          <p:nvPr/>
        </p:nvSpPr>
        <p:spPr>
          <a:xfrm>
            <a:off x="4686300" y="3520440"/>
            <a:ext cx="40005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7" name="Automation title 2"/>
          <p:cNvSpPr txBox="1"/>
          <p:nvPr/>
        </p:nvSpPr>
        <p:spPr>
          <a:xfrm>
            <a:off x="4869180" y="3593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Scalability</a:t>
            </a:r>
            <a:endParaRPr lang="en-US" sz="1600" dirty="0"/>
          </a:p>
        </p:txBody>
      </p:sp>
      <p:sp>
        <p:nvSpPr>
          <p:cNvPr id="18" name="Automation text 2"/>
          <p:cNvSpPr txBox="1"/>
          <p:nvPr/>
        </p:nvSpPr>
        <p:spPr>
          <a:xfrm>
            <a:off x="4869180" y="39044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Steps run as separate Kubernetes jobs, so heavy training can scale out or use GPUs on demand.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Feast serves the same features</a:t>
            </a:r>
            <a:endParaRPr lang="en-US" sz="36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188720"/>
            <a:ext cx="384048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4" name="Feature name 1"/>
          <p:cNvSpPr txBox="1"/>
          <p:nvPr/>
        </p:nvSpPr>
        <p:spPr>
          <a:xfrm>
            <a:off x="640080" y="1261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alcohol</a:t>
            </a:r>
            <a:endParaRPr lang="en-US" sz="1600" dirty="0"/>
          </a:p>
        </p:txBody>
      </p:sp>
      <p:sp>
        <p:nvSpPr>
          <p:cNvPr id="5" name="Feature note 1"/>
          <p:cNvSpPr txBox="1"/>
          <p:nvPr/>
        </p:nvSpPr>
        <p:spPr>
          <a:xfrm>
            <a:off x="640080" y="15727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Strongest single predictor of wine quality</a:t>
            </a:r>
            <a:endParaRPr lang="en-US" sz="1400" dirty="0"/>
          </a:p>
        </p:txBody>
      </p:sp>
      <p:sp>
        <p:nvSpPr>
          <p:cNvPr id="6" name="Feature card 2"/>
          <p:cNvSpPr/>
          <p:nvPr/>
        </p:nvSpPr>
        <p:spPr>
          <a:xfrm>
            <a:off x="457200" y="2148840"/>
            <a:ext cx="384048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7" name="Feature name 2"/>
          <p:cNvSpPr txBox="1"/>
          <p:nvPr/>
        </p:nvSpPr>
        <p:spPr>
          <a:xfrm>
            <a:off x="640080" y="2221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volatile_acidity</a:t>
            </a:r>
            <a:endParaRPr lang="en-US" sz="1600" dirty="0"/>
          </a:p>
        </p:txBody>
      </p:sp>
      <p:sp>
        <p:nvSpPr>
          <p:cNvPr id="8" name="Feature note 2"/>
          <p:cNvSpPr txBox="1"/>
          <p:nvPr/>
        </p:nvSpPr>
        <p:spPr>
          <a:xfrm>
            <a:off x="640080" y="25328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Acetic acid level; high means a vinegar taste</a:t>
            </a:r>
            <a:endParaRPr lang="en-US" sz="1400" dirty="0"/>
          </a:p>
        </p:txBody>
      </p:sp>
      <p:sp>
        <p:nvSpPr>
          <p:cNvPr id="9" name="Feature card 3"/>
          <p:cNvSpPr/>
          <p:nvPr/>
        </p:nvSpPr>
        <p:spPr>
          <a:xfrm>
            <a:off x="457200" y="3108960"/>
            <a:ext cx="384048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0" name="Feature name 3"/>
          <p:cNvSpPr txBox="1"/>
          <p:nvPr/>
        </p:nvSpPr>
        <p:spPr>
          <a:xfrm>
            <a:off x="640080" y="31821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sulphates</a:t>
            </a:r>
            <a:endParaRPr lang="en-US" sz="1600" dirty="0"/>
          </a:p>
        </p:txBody>
      </p:sp>
      <p:sp>
        <p:nvSpPr>
          <p:cNvPr id="11" name="Feature note 3"/>
          <p:cNvSpPr txBox="1"/>
          <p:nvPr/>
        </p:nvSpPr>
        <p:spPr>
          <a:xfrm>
            <a:off x="640080" y="34930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Preservative that acts as an antioxidant</a:t>
            </a:r>
            <a:endParaRPr lang="en-US" sz="1400" dirty="0"/>
          </a:p>
        </p:txBody>
      </p:sp>
      <p:sp>
        <p:nvSpPr>
          <p:cNvPr id="12" name="Feast definition"/>
          <p:cNvSpPr txBox="1"/>
          <p:nvPr/>
        </p:nvSpPr>
        <p:spPr>
          <a:xfrm>
            <a:off x="4572000" y="1188720"/>
            <a:ext cx="41148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features.py: one definition</a:t>
            </a:r>
            <a:endParaRPr lang="en-US" sz="1600" dirty="0"/>
          </a:p>
        </p:txBody>
      </p:sp>
      <p:sp>
        <p:nvSpPr>
          <p:cNvPr id="13" name="Store arrow 1"/>
          <p:cNvSpPr/>
          <p:nvPr/>
        </p:nvSpPr>
        <p:spPr>
          <a:xfrm>
            <a:off x="5372100" y="1938528"/>
            <a:ext cx="320040" cy="548640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14" name="Store card 1"/>
          <p:cNvSpPr/>
          <p:nvPr/>
        </p:nvSpPr>
        <p:spPr>
          <a:xfrm>
            <a:off x="4572000" y="2560320"/>
            <a:ext cx="2011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5" name="Store title 1"/>
          <p:cNvSpPr txBox="1"/>
          <p:nvPr/>
        </p:nvSpPr>
        <p:spPr>
          <a:xfrm>
            <a:off x="4709160" y="2633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Offline store</a:t>
            </a:r>
            <a:endParaRPr lang="en-US" sz="1600" dirty="0"/>
          </a:p>
        </p:txBody>
      </p:sp>
      <p:sp>
        <p:nvSpPr>
          <p:cNvPr id="16" name="Store text 1"/>
          <p:cNvSpPr txBox="1"/>
          <p:nvPr/>
        </p:nvSpPr>
        <p:spPr>
          <a:xfrm>
            <a:off x="4709160" y="294436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Parquet history, used for training with point-in-time joins</a:t>
            </a:r>
            <a:endParaRPr lang="en-US" sz="1400" dirty="0"/>
          </a:p>
        </p:txBody>
      </p:sp>
      <p:sp>
        <p:nvSpPr>
          <p:cNvPr id="17" name="Store arrow 2"/>
          <p:cNvSpPr/>
          <p:nvPr/>
        </p:nvSpPr>
        <p:spPr>
          <a:xfrm>
            <a:off x="7475220" y="1938528"/>
            <a:ext cx="320040" cy="548640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18" name="Store card 2"/>
          <p:cNvSpPr/>
          <p:nvPr/>
        </p:nvSpPr>
        <p:spPr>
          <a:xfrm>
            <a:off x="6675120" y="2560320"/>
            <a:ext cx="2011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9" name="Store title 2"/>
          <p:cNvSpPr txBox="1"/>
          <p:nvPr/>
        </p:nvSpPr>
        <p:spPr>
          <a:xfrm>
            <a:off x="6812280" y="2633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Online store</a:t>
            </a:r>
            <a:endParaRPr lang="en-US" sz="1600" dirty="0"/>
          </a:p>
        </p:txBody>
      </p:sp>
      <p:sp>
        <p:nvSpPr>
          <p:cNvPr id="20" name="Store text 2"/>
          <p:cNvSpPr txBox="1"/>
          <p:nvPr/>
        </p:nvSpPr>
        <p:spPr>
          <a:xfrm>
            <a:off x="6812280" y="294436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SQLite lookup, used by the live API in milliseconds</a:t>
            </a:r>
            <a:endParaRPr lang="en-US" sz="1400" dirty="0"/>
          </a:p>
        </p:txBody>
      </p:sp>
      <p:sp>
        <p:nvSpPr>
          <p:cNvPr id="21" name="Skew banner"/>
          <p:cNvSpPr txBox="1"/>
          <p:nvPr/>
        </p:nvSpPr>
        <p:spPr>
          <a:xfrm>
            <a:off x="457200" y="4224528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17780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Same code defines both stores, so training and serving never drift apart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Vertex AI fits our pipeline</a:t>
            </a:r>
            <a:endParaRPr lang="en-US" sz="3600" dirty="0"/>
          </a:p>
        </p:txBody>
      </p:sp>
      <p:graphicFrame>
        <p:nvGraphicFramePr>
          <p:cNvPr id="8" name="Cloud 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AWS SageMaker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Google Vertex AI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1A2B"/>
                          </a:solidFill>
                        </a:rPr>
                        <a:t>Services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128"/>
                          </a:solidFill>
                        </a:rPr>
                        <a:t>Studio, training jobs, hosting, Feature Store, Clarify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128"/>
                          </a:solidFill>
                        </a:rPr>
                        <a:t>Pipelines, Feature Store, Model Registry, Monitoring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1A2B"/>
                          </a:solidFill>
                        </a:rPr>
                        <a:t>Experiments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128"/>
                          </a:solidFill>
                        </a:rPr>
                        <a:t>SageMaker Experiments: trials and runs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128"/>
                          </a:solidFill>
                        </a:rPr>
                        <a:t>Vertex Experiments, TensorBoard and MLflow support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1A2B"/>
                          </a:solidFill>
                        </a:rPr>
                        <a:t>AutoML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128"/>
                          </a:solidFill>
                        </a:rPr>
                        <a:t>Autopilot, with visible code notebooks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128"/>
                          </a:solidFill>
                        </a:rPr>
                        <a:t>Tabular AutoML, more of a black box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1A2B"/>
                          </a:solidFill>
                        </a:rPr>
                        <a:t>Deployment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128"/>
                          </a:solidFill>
                        </a:rPr>
                        <a:t>Real-time, serverless, async, batch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128"/>
                          </a:solidFill>
                        </a:rPr>
                        <a:t>Endpoints, serverless, batch, Cloud Run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1A2B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128"/>
                          </a:solidFill>
                        </a:rPr>
                        <a:t>Per-second billing, Spot instances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128"/>
                          </a:solidFill>
                        </a:rPr>
                        <a:t>Pay per use, preemptible VMs, serverless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the pipeline delivers</a:t>
            </a:r>
            <a:endParaRPr lang="en-US" sz="3600" dirty="0"/>
          </a:p>
        </p:txBody>
      </p:sp>
      <p:sp>
        <p:nvSpPr>
          <p:cNvPr id="3" name="Outcome tool 1"/>
          <p:cNvSpPr txBox="1"/>
          <p:nvPr/>
        </p:nvSpPr>
        <p:spPr>
          <a:xfrm>
            <a:off x="45720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MLflow</a:t>
            </a:r>
            <a:endParaRPr lang="en-US" sz="1800" dirty="0"/>
          </a:p>
        </p:txBody>
      </p:sp>
      <p:sp>
        <p:nvSpPr>
          <p:cNvPr id="4" name="Outcome text 1"/>
          <p:cNvSpPr txBox="1"/>
          <p:nvPr/>
        </p:nvSpPr>
        <p:spPr>
          <a:xfrm>
            <a:off x="2103120" y="12801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4 models compared; KNN best at 81.6% test accuracy</a:t>
            </a:r>
            <a:endParaRPr lang="en-US" sz="1800" dirty="0"/>
          </a:p>
        </p:txBody>
      </p:sp>
      <p:sp>
        <p:nvSpPr>
          <p:cNvPr id="5" name="Outcome tool 2"/>
          <p:cNvSpPr txBox="1"/>
          <p:nvPr/>
        </p:nvSpPr>
        <p:spPr>
          <a:xfrm>
            <a:off x="457200" y="1847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DVC</a:t>
            </a:r>
            <a:endParaRPr lang="en-US" sz="1800" dirty="0"/>
          </a:p>
        </p:txBody>
      </p:sp>
      <p:sp>
        <p:nvSpPr>
          <p:cNvPr id="6" name="Outcome text 2"/>
          <p:cNvSpPr txBox="1"/>
          <p:nvPr/>
        </p:nvSpPr>
        <p:spPr>
          <a:xfrm>
            <a:off x="2103120" y="18470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v1.0 raw and v2.0 engineered data, tagged in Git</a:t>
            </a:r>
            <a:endParaRPr lang="en-US" sz="1800" dirty="0"/>
          </a:p>
        </p:txBody>
      </p:sp>
      <p:sp>
        <p:nvSpPr>
          <p:cNvPr id="7" name="Outcome tool 3"/>
          <p:cNvSpPr txBox="1"/>
          <p:nvPr/>
        </p:nvSpPr>
        <p:spPr>
          <a:xfrm>
            <a:off x="457200" y="24140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Kubeflow</a:t>
            </a:r>
            <a:endParaRPr lang="en-US" sz="1800" dirty="0"/>
          </a:p>
        </p:txBody>
      </p:sp>
      <p:sp>
        <p:nvSpPr>
          <p:cNvPr id="8" name="Outcome text 3"/>
          <p:cNvSpPr txBox="1"/>
          <p:nvPr/>
        </p:nvSpPr>
        <p:spPr>
          <a:xfrm>
            <a:off x="2103120" y="241401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5 automated stages with a 0.75 accuracy gate</a:t>
            </a:r>
            <a:endParaRPr lang="en-US" sz="1800" dirty="0"/>
          </a:p>
        </p:txBody>
      </p:sp>
      <p:sp>
        <p:nvSpPr>
          <p:cNvPr id="9" name="Outcome tool 4"/>
          <p:cNvSpPr txBox="1"/>
          <p:nvPr/>
        </p:nvSpPr>
        <p:spPr>
          <a:xfrm>
            <a:off x="457200" y="29809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Feast</a:t>
            </a:r>
            <a:endParaRPr lang="en-US" sz="1800" dirty="0"/>
          </a:p>
        </p:txBody>
      </p:sp>
      <p:sp>
        <p:nvSpPr>
          <p:cNvPr id="10" name="Outcome text 4"/>
          <p:cNvSpPr txBox="1"/>
          <p:nvPr/>
        </p:nvSpPr>
        <p:spPr>
          <a:xfrm>
            <a:off x="2103120" y="29809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alcohol, volatile_acidity, sulphates served consistently</a:t>
            </a:r>
            <a:endParaRPr lang="en-US" sz="1800" dirty="0"/>
          </a:p>
        </p:txBody>
      </p:sp>
      <p:sp>
        <p:nvSpPr>
          <p:cNvPr id="11" name="Outcome tool 5"/>
          <p:cNvSpPr txBox="1"/>
          <p:nvPr/>
        </p:nvSpPr>
        <p:spPr>
          <a:xfrm>
            <a:off x="457200" y="35478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Vertex AI</a:t>
            </a:r>
            <a:endParaRPr lang="en-US" sz="1800" dirty="0"/>
          </a:p>
        </p:txBody>
      </p:sp>
      <p:sp>
        <p:nvSpPr>
          <p:cNvPr id="12" name="Outcome text 5"/>
          <p:cNvSpPr txBox="1"/>
          <p:nvPr/>
        </p:nvSpPr>
        <p:spPr>
          <a:xfrm>
            <a:off x="2103120" y="35478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Recommended for its native Kubeflow fit</a:t>
            </a:r>
            <a:endParaRPr lang="en-US" sz="1800" dirty="0"/>
          </a:p>
        </p:txBody>
      </p:sp>
      <p:sp>
        <p:nvSpPr>
          <p:cNvPr id="13" name="Repo link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github.com/Kusum004/MLOPS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ne Cellar">
  <a:themeElements>
    <a:clrScheme name="Wine Cellar">
      <a:dk1>
        <a:srgbClr val="2A2128"/>
      </a:dk1>
      <a:lt1>
        <a:srgbClr val="FFFFFF"/>
      </a:lt1>
      <a:dk2>
        <a:srgbClr val="5B1A2B"/>
      </a:dk2>
      <a:lt2>
        <a:srgbClr val="F7EFF1"/>
      </a:lt2>
      <a:accent1>
        <a:srgbClr val="A8405A"/>
      </a:accent1>
      <a:accent2>
        <a:srgbClr val="D4A24C"/>
      </a:accent2>
      <a:accent3>
        <a:srgbClr val="3E7C6B"/>
      </a:accent3>
      <a:accent4>
        <a:srgbClr val="6E5A66"/>
      </a:accent4>
      <a:accent5>
        <a:srgbClr val="C98A97"/>
      </a:accent5>
      <a:accent6>
        <a:srgbClr val="8A6D2F"/>
      </a:accent6>
      <a:hlink>
        <a:srgbClr val="A8405A"/>
      </a:hlink>
      <a:folHlink>
        <a:srgbClr val="6E5A66"/>
      </a:folHlink>
    </a:clrScheme>
    <a:fontScheme name="Wine Cell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MLOps Pipeline - Wine Quality</dc:title>
  <dc:subject>PptxGenJS Presentation</dc:subject>
  <dc:creator>Kusum Gajare</dc:creator>
  <cp:lastModifiedBy>Kusum Gajare</cp:lastModifiedBy>
  <cp:revision>1</cp:revision>
  <dcterms:created xsi:type="dcterms:W3CDTF">2026-10-03T18:29:46Z</dcterms:created>
  <dcterms:modified xsi:type="dcterms:W3CDTF">2026-10-03T18:29:46Z</dcterms:modified>
</cp:coreProperties>
</file>